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follow-up to the Copilot Agents deck. That deck taught the parts;</a:t>
            </a:r>
          </a:p>
          <a:p>
            <a:r>
              <a:t>this one teaches the way we assemble them into a repeatable work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failure mode is not that Copilot is weak. It is that we often ask it to</a:t>
            </a:r>
          </a:p>
          <a:p>
            <a:r>
              <a:t>remember too much transient context. constraint-kit moves durable context into</a:t>
            </a:r>
          </a:p>
          <a:p>
            <a:r>
              <a:t>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constraint-kit treats documentation as operational infrastructure. The files are</a:t>
            </a:r>
          </a:p>
          <a:p>
            <a:r>
              <a:t>not ceremony; they are the memory layer the agent can reliably 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constraint-kit repo is not an app and has no build step. Its structure is the</a:t>
            </a:r>
          </a:p>
          <a:p>
            <a:r>
              <a:t>contract: plugins, skills, agents, manifests,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are general workflow plugins. The third encodes UMN-specific</a:t>
            </a:r>
          </a:p>
          <a:p>
            <a:r>
              <a:t>policy and should not be installed for non-UMN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behavior change is that we stop jumping straight from idea to code. The</a:t>
            </a:r>
          </a:p>
          <a:p>
            <a:r>
              <a:t>workflow keeps design decisions, implementation steps, and review evidence</a:t>
            </a:r>
          </a:p>
          <a:p>
            <a:r>
              <a:t>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boundaries are intentional. The planner should not sneak into</a:t>
            </a:r>
          </a:p>
          <a:p>
            <a:r>
              <a:t>implementation. The conductor should not bypass implementer and reviewer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 can now teach the next session how to work. New teammates and future</a:t>
            </a:r>
          </a:p>
          <a:p>
            <a:r>
              <a:t>agents are reading the same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replaces the old habit of stuffing project background into one giant prompt</a:t>
            </a:r>
          </a:p>
          <a:p>
            <a:r>
              <a:t>and hoping it sticks.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Archaeology is for repos where the code is the truth. The output separates what</a:t>
            </a:r>
          </a:p>
          <a:p>
            <a:r>
              <a:t>the agent verified from what remains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important training point is not the tool brand. It is that broad grep loops</a:t>
            </a:r>
          </a:p>
          <a:p>
            <a:r>
              <a:t>are a weak substitute for structural understanding when planning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skill is intentionally strict because small changes are where assumptions</a:t>
            </a:r>
          </a:p>
          <a:p>
            <a:r>
              <a:t>hide. The design can be short, but it should still be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Specs are for shared intent. They let the implementer and reviewer test work</a:t>
            </a:r>
          </a:p>
          <a:p>
            <a:r>
              <a:t>against something firmer than chat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is not a vague checklist. It should be bite-sized enough that each task</a:t>
            </a:r>
          </a:p>
          <a:p>
            <a:r>
              <a:t>can be implemented, tested, and reviewed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conductor coordinates but does not edit. That keeps orchestration context</a:t>
            </a:r>
          </a:p>
          <a:p>
            <a:r>
              <a:t>clean and makes review a normal part of every task,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TDD theater. A test that would pass before the implementation is not</a:t>
            </a:r>
          </a:p>
          <a:p>
            <a:r>
              <a:t>evidence. The loop keeps the agent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current Copilot Agents deck's subagent slide becomes useful.</a:t>
            </a:r>
          </a:p>
          <a:p>
            <a:r>
              <a:t>constraint-kit applies subagents to reduce context contamination during longer</a:t>
            </a:r>
          </a:p>
          <a:p>
            <a:r>
              <a:t>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ledger is a guardrail against false completion. It lets a later session</a:t>
            </a:r>
          </a:p>
          <a:p>
            <a:r>
              <a:t>resume from evidence rather than recollection.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task-level secure coding discipline. It is distinct from the UMN</a:t>
            </a:r>
          </a:p>
          <a:p>
            <a:r>
              <a:t>compliance analysis plugin.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should not be framed as a generic open-source plugin. It encodes UMN policy</a:t>
            </a:r>
          </a:p>
          <a:p>
            <a:r>
              <a:t>and belongs in UMN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README has exact commands. Keep this slide conceptual unless the session is</a:t>
            </a:r>
          </a:p>
          <a:p>
            <a:r>
              <a:t>a hands-on install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confusion comes from using the right skill with the wrong agent. The agent</a:t>
            </a:r>
          </a:p>
          <a:p>
            <a:r>
              <a:t>is the user's workflow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stylistic preferences. They protect the behavior the workflow is</a:t>
            </a:r>
          </a:p>
          <a:p>
            <a:r>
              <a:t>designed to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familiar repo-shaped example. The point is to show the flow, not to teach</a:t>
            </a:r>
          </a:p>
          <a:p>
            <a:r>
              <a:t>the specific runbook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first training, stop at the plan. That keeps the exercise focused on the</a:t>
            </a:r>
          </a:p>
          <a:p>
            <a:r>
              <a:t>new behavior: capturing constraints and designing before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extension is useful for a longer workshop. It makes the planner-to-dev</a:t>
            </a:r>
          </a:p>
          <a:p>
            <a:r>
              <a:t>handoff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adoption path should be incremental. The goal is durable team behavior, not</a:t>
            </a:r>
          </a:p>
          <a:p>
            <a:r>
              <a:t>turning on every feature everywhere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is simple: constraint-kit turns agent capability into a repeatable</a:t>
            </a:r>
          </a:p>
          <a:p>
            <a:r>
              <a:t>engineering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Getting Started guide is the best companion document for the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201400" cy="562356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005840"/>
            <a:ext cx="868680" cy="86868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5440680"/>
            <a:ext cx="502920" cy="502920"/>
          </a:xfrm>
          <a:prstGeom prst="ellipse">
            <a:avLst/>
          </a:prstGeom>
          <a:noFill/>
          <a:ln w="31750">
            <a:solidFill>
              <a:srgbClr val="00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08760"/>
            <a:ext cx="384048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1" i="0">
                <a:solidFill>
                  <a:srgbClr val="FFCC33"/>
                </a:solidFill>
                <a:latin typeface="Aptos"/>
              </a:defRPr>
            </a:pPr>
            <a:r>
              <a:t>UMN-SRE TEAM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8686800" cy="8229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constraint-kit for UMN SRE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16352"/>
            <a:ext cx="8412480" cy="47548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0" i="1">
                <a:solidFill>
                  <a:srgbClr val="FAF8F4"/>
                </a:solidFill>
                <a:latin typeface="Georgia"/>
              </a:defRPr>
            </a:pPr>
            <a:r>
              <a:t>From Copilot customization primitives to a disciplined design-to-merge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30752"/>
            <a:ext cx="8412480" cy="685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 i="0">
                <a:solidFill>
                  <a:srgbClr val="FAF8F4"/>
                </a:solidFill>
                <a:latin typeface="Aptos"/>
              </a:defRPr>
            </a:pPr>
            <a:r>
              <a:t>A practical workflow for planning, implementation, review, and compliance · Built from Copilot agents, skills, instructions, and persistent repo artifacts · Designed for real UMN SRE project work, not demo-only 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66360"/>
            <a:ext cx="43891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FFCC33"/>
                </a:solidFill>
                <a:latin typeface="Menlo"/>
              </a:defRPr>
            </a:pPr>
            <a:r>
              <a:t>github.com/umn-sre  ·  VS Code + GitHub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Agents Drift When the Rules Only Live in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Early-session rules fade as context fills up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Project conventions get rediscovered every time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Planning, implementation, and review blur together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Handoffs fail when the next session lacks the original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Constraints on Disk, Not in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Project context lives in committed documents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Plans and specs survive chat resets and context compaction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Generated Copilot instructions carry project rules into future sessions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Execution scratch lives separately and can be resumed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WHAT CONSTRAINT-KIT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A Plugin Marketplace for Disciplined Copilot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Ships skills, custom agents, and plugin manifests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Works with GitHub Copilot CLI, VS Code, coding agent, and Claude Code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Organizes work into design, development, and UMN compliance plugins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Writes project-specific outputs into the consuming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THE THREE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Design, Development,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039112"/>
            <a:ext cx="260604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`constraint-design`: intake, archaeology, brainstorming, specs, plans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74519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2039112"/>
            <a:ext cx="260604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`constraint-dev`: TDD, subagent execution, reviews, ledger, branch finishing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74519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039112"/>
            <a:ext cx="260604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`umn-compliance`: UMN policy compliance analysis for UMN projects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THE WORKFLOW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Idea to Merge-Ready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Onboard the project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Brainstorm the change until the design is 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Write the spec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Write the test-first implementation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Execute through conductor, implementer, reviewer, and TDD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Finish with verification and an integration choice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1609344"/>
            <a:ext cx="9875520" cy="27432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AGENT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Each Agent Has a Job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`planner`: designs and plans; never edits source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`conductor`: orchestrates plan execution; never edits code directly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`implementer`: executes one task at a time with TDD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089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918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375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735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`reviewer`: reviews diffs; changes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1089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918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3375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735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`compliance-analyst`: performs UMN compliance analysis; never edits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FILES CREATED IN YOUR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The Repo Becomes the Shared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`docs/PROJECT.md`: goals, stack, conventions, constraints, session log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`docs/GLOSSARY.md`: agreed domain language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`docs/ARCHAEOLOGY.md`: evidence from existing-codebase discovery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`docs/constraint-kit/specs/`: designs and PRD-style specs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`docs/constraint-kit/plans/`: test-first implementation plans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`.github/copilot-instructions.md`: generated project rules for Copilot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`.constraint-kit/sdd/`: git-ignored execution scratch and ledger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INTAKE PATH FOR NEW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`project-intake`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Use for new or early-stage projects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Interviews the user one question at a time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Captures purpose, success criteria, constraints, conventions, and terms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Produces `PROJECT.md`, `GLOSSARY.md`, and Copilot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INTAKE PATH FOR EXISTING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`project-archaeology`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Use when code exists but docs are missing, stale, or untrusted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Reads the code before asking the user decisions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Records confidence-tagged evidence in `docs/ARCHAEOLOGY.md`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Produces the same project context outputs as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CODEGRAPH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Structural Code Questions Need Structural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CodeGraph answers callers, symbols, impact, and affected tests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`codegraph-setup` installs and wires it where available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Skills degrade to built-in search when CodeGraph is absent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Confidence is lower when structural answers come from plain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DESIGN COMES BEFORE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`brainstorming`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Turns an idea into an approved design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Asks one question at a time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Proposes alternatives and trade-offs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Captures glossary terms and decision records as they crystallize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Writes design output under `docs/constraint-kit/specs/`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FROM DESIGN TO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`writing-specs`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Synthesizes the approved design into a PRD-style spec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Captures problem, solution, user stories, decisions, testing seams, and scope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Does not reopen the interview unless something is ambiguous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Produces a stable target for planning and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FROM SPEC TO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`writing-plans`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Designs module boundaries before task steps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Produces small, test-first implementation steps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Names files, tests, validation commands, and review checkpoints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Hands execution to `constraint-dev`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DEVELOPMENT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`constraint-dev` Executes the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`conductor` reads the plan and manages the execution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0332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`implementer` changes code one task at a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7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5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`reviewer` checks spec compliance and quality after each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944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64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`session-ledger` records verified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609344"/>
            <a:ext cx="9875520" cy="27432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TDD IS THE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Red, Green, Refactor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Tests are written at pre-agreed seams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Failing tests prove the behavior gap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Passing tests prove the implementation changed the right behavior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Refactor happens only after the behavior is protected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SUBAGENT-DRIVEN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Fresh Context Per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Each implementation task gets a fresh implementer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0332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Each task gets reviewed before being marked 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7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5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Fix loops are bounded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9448" y="18288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64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1993392"/>
            <a:ext cx="1737360" cy="10515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The ledger, not memory, is the source of truth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609344"/>
            <a:ext cx="9875520" cy="27432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THE SESSION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Verified Progress, Not Vibes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Records what was done and how it was verified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Detects edit failures and repeated loops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Survives compaction and handoff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Appends durable lessons to `docs/PROJECT.md`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SECURITY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Secure Defaults During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Vault-first secrets handling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Least privilege access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No credentials in logs, errors, commits, or MCP config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Risk-based findings rather than reflex severity labels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Activates whenever work touches auth, credentials, or sensitive data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UMN COMPLIANCE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Compliance Is a Separate Analysis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`umn-compliance` is UMN-only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Maps projects against the 16 UMN Information Security Policy Standards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Records data classification and security level in `PROJECT.md`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Produces design gaps that feed back into planner workflow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INSTALL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Installing the Plugins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Add the marketplace: `umn-sre/constraint-kit`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Install `constraint-design`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Install `constraint-dev`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Install `umn-compliance` only for UMN projects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For VS Code, vendor skills and agents into `.github/` when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HOW TO USE IT DAY TO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Which Agent Do I Pick?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New project or stale docs: switch to `planner`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New feature idea: stay in `planner` for brainstorming, spec, and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74519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5740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03911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Approved plan: switch to `conductor`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089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918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375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735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Single task execution: use `implementer` only when appropriate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1089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918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3375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735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Review-only work: use `reviewer`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31089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32918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3375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2735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UMN policy analysis: use `compliance-analyst`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WHAT NOT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Common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ask the planner to implement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skip from idea directly to code for non-trivial work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start implementation on `main` without making that explicit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commit `.constraint-kit/sdd/`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install `umn-compliance` outside UMN work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Do not treat generated docs as disposable ceremony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EXAMPLE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Existing Runbook Repo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10378440" cy="658368"/>
          </a:xfrm>
          <a:prstGeom prst="round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978408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Add a new monitoring workflow to an existing UMN SRE runbook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8346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8163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`planner` runs `project-archaeology` if project context is missing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6517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28346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8803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5" y="28163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`brainstorming` resolves what the workflow should 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65176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83464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281635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`writing-specs` captures behavior and test seams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2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0690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050791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`writing-plans` creates small implementation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7" y="38862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1999" y="40690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41148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5" y="4050791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`conductor` executes with implementer and reviewer loops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8862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0690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1148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4050791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`finishing-a-development-branch` verifies and presents integration options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Run One Design-to-Plan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Pick a small repo or sample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Ask the `planner` to onboard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Propose one small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Answer the brainstorming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Generate a spec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Generate a test-first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9768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" y="448056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52628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46227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Stop before implementation and review the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HANDS-ON EXERCISE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Execute One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Switch to `conductor`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Execute the first plan task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Watch the TDD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Review the ledger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Inspect the reviewer 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Discuss whether the artifacts would help a future session 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ADOPTION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Start With One 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Week 1: install plugins and onboard one active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5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Week 2: run one real change through planner to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2880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1168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99339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Week 3: execute one bounded task through conductor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Week 4: add compliance analysis for UMN projects that need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06324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3246120"/>
            <a:ext cx="347472" cy="347472"/>
          </a:xfrm>
          <a:prstGeom prst="ellipse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291840"/>
            <a:ext cx="347472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5" y="3227832"/>
            <a:ext cx="26060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200" b="0" i="0">
                <a:solidFill>
                  <a:srgbClr val="1C1C1E"/>
                </a:solidFill>
                <a:latin typeface="Aptos"/>
              </a:defRPr>
            </a:pPr>
            <a:r>
              <a:t>Then standardize lessons in repo docs and team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The New Default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Use the Copilot Agents toolbox as primitives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Use constraint-kit as the UMN SRE workflow layer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Put durable context in the repo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Keep design, implementation, review, and compliance distinct</a:t>
            </a:r>
          </a:p>
          <a:p>
            <a:pPr>
              <a:spcAft>
                <a:spcPts val="800"/>
              </a:spcAft>
              <a:defRPr sz="1400">
                <a:solidFill>
                  <a:srgbClr val="1C1C1E"/>
                </a:solidFill>
                <a:latin typeface="Aptos"/>
              </a:defRPr>
            </a:pPr>
            <a:r>
              <a:t>• Let future sessions resume from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94360"/>
            <a:ext cx="548640" cy="548640"/>
          </a:xfrm>
          <a:prstGeom prst="ellipse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5603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800" b="1" i="0">
                <a:solidFill>
                  <a:srgbClr val="570014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680960" cy="594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700" b="1" i="0">
                <a:solidFill>
                  <a:srgbClr val="1C1C1E"/>
                </a:solidFill>
                <a:latin typeface="Georgia"/>
              </a:defRPr>
            </a:pPr>
            <a:r>
              <a:t>Where to Go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378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54864" cy="3611880"/>
          </a:xfrm>
          <a:prstGeom prst="rect">
            <a:avLst/>
          </a:prstGeom>
          <a:solidFill>
            <a:srgbClr val="5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9966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`README.md`: install and workflow overview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`docs/GETTING-STARTED.md`: first complete design-to-merge pass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`docs/DESIGN.md`: architecture and skill merge map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`plugins/constraint-design/README.md`: design-stage skills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`plugins/constraint-dev/README.md`: implementation-stage skills</a:t>
            </a:r>
          </a:p>
          <a:p>
            <a:pPr>
              <a:spcAft>
                <a:spcPts val="500"/>
              </a:spcAft>
              <a:defRPr sz="1200">
                <a:solidFill>
                  <a:srgbClr val="1C1C1E"/>
                </a:solidFill>
                <a:latin typeface="Aptos"/>
              </a:defRPr>
            </a:pPr>
            <a:r>
              <a:t>• `plugins/umn-compliance/README.md`: UMN compliance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1" i="0">
                <a:solidFill>
                  <a:srgbClr val="5C5C62"/>
                </a:solidFill>
                <a:latin typeface="Aptos"/>
              </a:defRPr>
            </a:pPr>
            <a:r>
              <a:t>umn-sre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73952"/>
            <a:ext cx="20116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constraint-kit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>
              <a:defRPr sz="900" b="0" i="0">
                <a:solidFill>
                  <a:srgbClr val="5C5C62"/>
                </a:solidFill>
                <a:latin typeface="Aptos"/>
              </a:defRPr>
            </a:pPr>
            <a: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